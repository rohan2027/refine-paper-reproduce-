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15:24:03.6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1,'665'47,"-527"-36,187-9,-165-5,195 3,-355 0,0 0,0 0,0 0,0 0,0 0,-1 0,1 1,0-1,0 0,0 0,0 0,0 0,0 0,0 0,0 0,0 0,0 1,0-1,0 0,0 0,0 0,0 0,0 0,0 0,0 1,0-1,0 0,0 0,0 0,0 0,0 0,0 0,0 0,0 1,0-1,0 0,0 0,0 0,0 0,0 0,0 0,1 0,-1 0,0 0,0 1,0-1,0 0,0 0,0 0,0 0,0 0,1 0,-1 0,-11 6,-2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15:24:06.1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30,'343'-15,"-45"0,390 16,-664-1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15:27:59.4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1 147,'377'0,"-362"-2,0 1,-1-2,1 0,-1 0,0-2,18-7,-16 5,0 2,0 0,0 1,30-4,33 7,-57 2,-1-1,0 0,0-2,35-7,157-47,-186 49,0 2,0 0,1 2,-1 1,39 2,-41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15:28:01.5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1 207,'4'-4,"1"0,0 1,0-1,0 1,0 0,1 1,0-1,9-2,51-10,-43 10,56-15,76-30,31-4,-156 46,1 0,0 2,1 2,-1 0,1 3,0 0,52 7,-79-6,1 1,0 0,0 1,0-1,-1 1,1 1,-1-1,1 1,-1-1,0 2,0-1,0 0,-1 1,1 0,-1 0,0 0,0 1,0 0,4 7,1 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REFINE: Defeating Backdoor Attacks</a:t>
            </a:r>
            <a:br/>
            <a:r>
              <a:t>via Adversarial Reprogramming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C3C7"/>
                </a:solidFill>
              </a:defRPr>
            </a:pPr>
            <a:r>
              <a:t>Reproduction, Analysis &amp; Novel Contributions  •  CIFAR-10 / ResNet-18 / BadNets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</a:defRPr>
            </a:pPr>
            <a:r>
              <a:t>Presented by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212529"/>
                </a:solidFill>
              </a:defRPr>
            </a:pPr>
            <a:r>
              <a:t>Rohan Bhati</a:t>
            </a:r>
          </a:p>
          <a:p>
            <a:pPr algn="ctr">
              <a:spcBef>
                <a:spcPts val="400"/>
              </a:spcBef>
              <a:defRPr sz="1800" b="0">
                <a:solidFill>
                  <a:srgbClr val="343A40"/>
                </a:solidFill>
              </a:defRPr>
            </a:pPr>
            <a:r>
              <a:t>Student ID: 2023UAI1809</a:t>
            </a:r>
          </a:p>
          <a:p>
            <a:pPr algn="ctr">
              <a:spcBef>
                <a:spcPts val="400"/>
              </a:spcBef>
              <a:defRPr sz="1800" b="0">
                <a:solidFill>
                  <a:srgbClr val="343A40"/>
                </a:solidFill>
              </a:defRPr>
            </a:pPr>
            <a:r>
              <a:t>Malaviya National Institute of Technology (MNIT), Jaipur</a:t>
            </a:r>
          </a:p>
          <a:p>
            <a:pPr algn="ctr"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Information Security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Paper: ICLR 2025   •   github.com/WhitolfChen/REFINE   •   openreview.net/pdf?id=4IYdCws9fc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1.  The Problem — What is a Backdoor Attack?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BadNets Attack Mechanism: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▸ Attacker poisons a small fraction of training data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▸ A 3×3 white-pixel trigger is stamped on the</a:t>
            </a:r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bottom-right corner of selected images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▸ Labels of these images are changed to target</a:t>
            </a:r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class (Class 0 — Airplane)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▸ Model learns a dangerous shortcut:</a:t>
            </a:r>
          </a:p>
          <a:p>
            <a:pPr>
              <a:spcBef>
                <a:spcPts val="400"/>
              </a:spcBef>
              <a:defRPr sz="1700" b="1">
                <a:solidFill>
                  <a:srgbClr val="E67E22"/>
                </a:solidFill>
              </a:defRPr>
            </a:pPr>
            <a:r>
              <a:t>   "See trigger → always predict Airplane"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C0392B"/>
                </a:solidFill>
              </a:defRPr>
            </a:pPr>
            <a:r>
              <a:t>Consequence: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infected model behaves perfectly normally on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clean data (91.73% accuracy), but misclassifies</a:t>
            </a:r>
          </a:p>
          <a:p>
            <a:pPr>
              <a:spcBef>
                <a:spcPts val="400"/>
              </a:spcBef>
              <a:defRPr sz="1700" b="1">
                <a:solidFill>
                  <a:srgbClr val="C0392B"/>
                </a:solidFill>
              </a:defRPr>
            </a:pPr>
            <a:r>
              <a:t>ANY image containing the trigger → 100% ASR.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Why Does This Matter?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 b="1">
                <a:solidFill>
                  <a:srgbClr val="343A40"/>
                </a:solidFill>
              </a:defRPr>
            </a:pPr>
            <a:r>
              <a:t>Real-world AI systems are vulnerable: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🚗  Self-driving cars misclassifying traffic signs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🏥  Medical AI giving wrong diagnoses on demand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🔐  Security systems bypassed at attacker's will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backdoor is completely invisible during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standard model evaluation — accuracy looks fine.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Only when the trigger appears does the attack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activate. Traditional testing cannot detect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2.  The Solution — How REFINE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Step 1: Freeze Infected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A40"/>
                </a:solidFill>
              </a:defRPr>
            </a:pPr>
            <a:r>
              <a:t>The backdoored ResNet-18 is</a:t>
            </a:r>
            <a:br/>
            <a:r>
              <a:t>locked permanently. Its weights</a:t>
            </a:r>
            <a:br/>
            <a:r>
              <a:t>are never modified or retrained.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38328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39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Step 2: Train a UNet 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20116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A40"/>
                </a:solidFill>
              </a:defRPr>
            </a:pPr>
            <a:r>
              <a:t>A UNet is placed BEFORE the</a:t>
            </a:r>
            <a:br/>
            <a:r>
              <a:t>ResNet and trained only on clean</a:t>
            </a:r>
            <a:br/>
            <a:r>
              <a:t>images to output adversarial</a:t>
            </a:r>
            <a:br/>
            <a:r>
              <a:t>textures the ResNet understands.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3832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Step 3: Label Shuffling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A40"/>
                </a:solidFill>
              </a:defRPr>
            </a:pPr>
            <a:r>
              <a:t>A secret label permutation</a:t>
            </a:r>
            <a:br/>
            <a:r>
              <a:t>decouples the backdoor's target</a:t>
            </a:r>
            <a:br/>
            <a:r>
              <a:t>class mapping, rendering the</a:t>
            </a:r>
            <a:br/>
            <a:r>
              <a:t>trigger effect meaningless.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36576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The "Blind Defense" — Why It Works Without Seeing Poisoned Data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UNet has never seen a single poisoned image during its training. Yet it destroys the trigger because: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▸ UNet applies universal convolution filters across the entire 32×32 image — it does not selectively process regions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▸ The 3×3 trigger is just pixels — the UNet warps, blurs, and shreds its rigid structure into abstract noise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▸ The infected ResNet was trained to detect a perfect 3×3 white square — the shredded noise no longer matches</a:t>
            </a:r>
          </a:p>
          <a:p>
            <a:pPr>
              <a:spcBef>
                <a:spcPts val="400"/>
              </a:spcBef>
              <a:defRPr sz="1600" b="1">
                <a:solidFill>
                  <a:srgbClr val="27AE60"/>
                </a:solidFill>
              </a:defRPr>
            </a:pPr>
            <a:r>
              <a:t>▸ Result: backdoor fails completely, while clean classification accuracy is preserved at ~90.5%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 Architecture — Before vs After REFINE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❌  Without Defense (Vulnerable Pipeline):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900" b="0">
                <a:solidFill>
                  <a:srgbClr val="343A40"/>
                </a:solidFill>
              </a:defRPr>
            </a:pPr>
            <a:r>
              <a:t>   Input Image (with 3×3 trigger)  ───►  Infected ResNet-18  ───►  Always predicts Class 0 (Airplane)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The trigger hijacks the model's decision. Attack Success Rate = 100%.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10698480" cy="246888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✅  With REFINE Defense (Secured Pipeline):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900" b="0">
                <a:solidFill>
                  <a:srgbClr val="343A40"/>
                </a:solidFill>
              </a:defRPr>
            </a:pPr>
            <a:r>
              <a:t>   Input Image  ───►  UNet Filter  ───►  Adversarial Texture  ───►  Frozen ResNet-18  ───►  Correct Prediction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The UNet transforms all images into abstract feature maps. The trigger's spatial structure is destroyed.</a:t>
            </a:r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Label shuffling further decouples the backdoor. ASR drops from 100% to just 0.84%.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 Experimental Results — Paper vs Our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rPr dirty="0"/>
              <a:t>Before Defense (Backdoored Model)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46634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Benign Accuracy (BA)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91.73%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+0.55%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Attack Success Rate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39EF6B48-3A70-DBE0-090E-FF816399E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51" y="1005840"/>
            <a:ext cx="6646149" cy="58521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34AC6B-895D-D195-EE49-3A2BEDD36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45044"/>
            <a:ext cx="4814025" cy="13725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3F4854-A7BF-FCAC-7C28-4860709C5F9D}"/>
              </a:ext>
            </a:extLst>
          </p:cNvPr>
          <p:cNvSpPr txBox="1"/>
          <p:nvPr/>
        </p:nvSpPr>
        <p:spPr>
          <a:xfrm>
            <a:off x="731520" y="3611881"/>
            <a:ext cx="6135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rPr lang="en-US" dirty="0"/>
              <a:t>Research Paper reference: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E9F41F7-D207-CFBA-6A06-0E10F4C0EC9A}"/>
                  </a:ext>
                </a:extLst>
              </p14:cNvPr>
              <p14:cNvContentPartPr/>
              <p14:nvPr/>
            </p14:nvContentPartPr>
            <p14:xfrm>
              <a:off x="1693358" y="5371936"/>
              <a:ext cx="592200" cy="27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E9F41F7-D207-CFBA-6A06-0E10F4C0EC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9718" y="5264296"/>
                <a:ext cx="699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EE18E1E-CE27-AE67-EE82-CFA1FD06F0B6}"/>
                  </a:ext>
                </a:extLst>
              </p14:cNvPr>
              <p14:cNvContentPartPr/>
              <p14:nvPr/>
            </p14:nvContentPartPr>
            <p14:xfrm>
              <a:off x="2379158" y="5392456"/>
              <a:ext cx="487800" cy="10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EE18E1E-CE27-AE67-EE82-CFA1FD06F0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5518" y="5284456"/>
                <a:ext cx="595440" cy="22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D6ABA-DB00-590B-FDE9-E12F3731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79F5DA-2D3F-429F-2D04-CDF3C9F41E86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5AE30-0617-C426-0CE7-6A8CC3ECF025}"/>
              </a:ext>
            </a:extLst>
          </p:cNvPr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 Experimental Results — Paper vs Our Reproduction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86B80-7AD2-273A-375F-0EA39D61C3D7}"/>
              </a:ext>
            </a:extLst>
          </p:cNvPr>
          <p:cNvSpPr txBox="1"/>
          <p:nvPr/>
        </p:nvSpPr>
        <p:spPr>
          <a:xfrm>
            <a:off x="640080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rPr dirty="0"/>
              <a:t>After REFINE Defense (Epoch 150)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89F4F4-5E62-9C02-96FA-878BD8054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080"/>
              </p:ext>
            </p:extLst>
          </p:nvPr>
        </p:nvGraphicFramePr>
        <p:xfrm>
          <a:off x="6400800" y="1500447"/>
          <a:ext cx="51206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Benign Accuracy (BA)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~90.50%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✅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Attack Success Rate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~1.05%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0.84%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−0.21%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✅ Better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476DCF-0DED-ADD0-BF2D-367FA09573F3}"/>
              </a:ext>
            </a:extLst>
          </p:cNvPr>
          <p:cNvSpPr txBox="1"/>
          <p:nvPr/>
        </p:nvSpPr>
        <p:spPr>
          <a:xfrm>
            <a:off x="263929" y="1124295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rPr dirty="0"/>
              <a:t>Training Progress — Last 10 Epochs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A2DECF-5074-16B5-DA77-029F8AF66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668886"/>
              </p:ext>
            </p:extLst>
          </p:nvPr>
        </p:nvGraphicFramePr>
        <p:xfrm>
          <a:off x="357447" y="1500447"/>
          <a:ext cx="51206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69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Epoch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BA (%)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ASR (%)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89.62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89.85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144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89.57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1.17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89.91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90.08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1.64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69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150 (Final)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90.52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0.84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ECFA1A3-8ECF-4E35-CF6B-4F9F27C37DE3}"/>
              </a:ext>
            </a:extLst>
          </p:cNvPr>
          <p:cNvSpPr/>
          <p:nvPr/>
        </p:nvSpPr>
        <p:spPr>
          <a:xfrm>
            <a:off x="6400800" y="3106881"/>
            <a:ext cx="5303520" cy="3613962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07F77-B99D-25FD-0904-868D90AE7A91}"/>
              </a:ext>
            </a:extLst>
          </p:cNvPr>
          <p:cNvSpPr txBox="1"/>
          <p:nvPr/>
        </p:nvSpPr>
        <p:spPr>
          <a:xfrm>
            <a:off x="6537960" y="3166215"/>
            <a:ext cx="5166360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rPr dirty="0"/>
              <a:t>Key Takeaways</a:t>
            </a:r>
          </a:p>
          <a:p>
            <a:pPr>
              <a:spcBef>
                <a:spcPts val="400"/>
              </a:spcBef>
              <a:defRPr sz="2000" b="1">
                <a:solidFill>
                  <a:srgbClr val="343A40"/>
                </a:solidFill>
              </a:defRPr>
            </a:pPr>
            <a:r>
              <a:rPr dirty="0"/>
              <a:t>✅ Successfully Reproduced</a:t>
            </a:r>
            <a:endParaRPr lang="en-US" dirty="0"/>
          </a:p>
          <a:p>
            <a:pPr>
              <a:spcBef>
                <a:spcPts val="400"/>
              </a:spcBef>
              <a:defRPr sz="2000" b="1">
                <a:solidFill>
                  <a:srgbClr val="343A40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rPr dirty="0"/>
              <a:t>▸ BA after defense matches paper within</a:t>
            </a:r>
            <a:r>
              <a:rPr lang="en-US" dirty="0"/>
              <a:t> </a:t>
            </a:r>
            <a:r>
              <a:rPr dirty="0"/>
              <a:t>0.02% </a:t>
            </a:r>
            <a:r>
              <a:rPr lang="en-IN" dirty="0"/>
              <a:t>— </a:t>
            </a:r>
            <a:r>
              <a:rPr dirty="0"/>
              <a:t>essentially identical</a:t>
            </a:r>
            <a:endParaRPr lang="en-US" dirty="0"/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rPr dirty="0"/>
              <a:t>▸ Our ASR of 0.84% is better than the paper's reported ~1.05–1.40%</a:t>
            </a:r>
            <a:endParaRPr lang="en-US" dirty="0"/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 b="1">
                <a:solidFill>
                  <a:srgbClr val="27AE60"/>
                </a:solidFill>
              </a:defRPr>
            </a:pPr>
            <a:r>
              <a:rPr dirty="0"/>
              <a:t>▸ Defense reduced ASR: 100% → 0.84%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rPr dirty="0"/>
              <a:t>   while losing only ~1.2% benign accuracy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BECBE6-6464-F88C-8059-85E3DBF2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47" y="5861751"/>
            <a:ext cx="5120640" cy="8590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8566ED-A001-B1C4-572E-93BC05CA1B9B}"/>
              </a:ext>
            </a:extLst>
          </p:cNvPr>
          <p:cNvSpPr txBox="1"/>
          <p:nvPr/>
        </p:nvSpPr>
        <p:spPr>
          <a:xfrm>
            <a:off x="263929" y="5394411"/>
            <a:ext cx="6135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rPr lang="en-US" dirty="0"/>
              <a:t>Research Paper reference: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F7DBADF-373C-AF57-DC5D-147B916D872F}"/>
                  </a:ext>
                </a:extLst>
              </p14:cNvPr>
              <p14:cNvContentPartPr/>
              <p14:nvPr/>
            </p14:nvContentPartPr>
            <p14:xfrm>
              <a:off x="4208318" y="6586936"/>
              <a:ext cx="456120" cy="52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F7DBADF-373C-AF57-DC5D-147B916D87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4678" y="6478936"/>
                <a:ext cx="5637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D40E1A7-7DFC-7171-A424-8C2944140381}"/>
                  </a:ext>
                </a:extLst>
              </p14:cNvPr>
              <p14:cNvContentPartPr/>
              <p14:nvPr/>
            </p14:nvContentPartPr>
            <p14:xfrm>
              <a:off x="4925078" y="6575416"/>
              <a:ext cx="353520" cy="74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D40E1A7-7DFC-7171-A424-8C29441403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71438" y="6467416"/>
                <a:ext cx="461160" cy="29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678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 Visual Evidence — t-SNE Feature Space Analysis</a:t>
            </a:r>
          </a:p>
        </p:txBody>
      </p:sp>
      <p:pic>
        <p:nvPicPr>
          <p:cNvPr id="4" name="Picture 3" descr="tsne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40"/>
            <a:ext cx="12192000" cy="38404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46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C0392B"/>
                </a:solidFill>
              </a:defRPr>
            </a:pPr>
            <a:r>
              <a:t>Before REFINE (Left):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All 500 poisoned samples (★) collapse into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one super-dense cluster. The trigger acts as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a magnet — overriding all natural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46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7AE60"/>
                </a:solidFill>
              </a:defRPr>
            </a:pPr>
            <a:r>
              <a:t>After REFINE (Right):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The dense cluster shatters! Poisoned samples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scatter into their correct class clusters —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dogs with dogs, cars with cars. Trigger destroyed.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6.  UNet Transformation — Pixel-Level Verification</a:t>
            </a:r>
          </a:p>
        </p:txBody>
      </p:sp>
      <p:pic>
        <p:nvPicPr>
          <p:cNvPr id="4" name="Picture 3" descr="image_transform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2" y="1033688"/>
            <a:ext cx="5631154" cy="5824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What This Image Shows: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Row 1 — Clean original CIFAR-10 images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Row 2 — Same images + BadNets trigger</a:t>
            </a:r>
          </a:p>
          <a:p>
            <a:pPr>
              <a:spcBef>
                <a:spcPts val="400"/>
              </a:spcBef>
              <a:defRPr sz="1500" b="0">
                <a:solidFill>
                  <a:srgbClr val="6C757D"/>
                </a:solidFill>
              </a:defRPr>
            </a:pPr>
            <a:r>
              <a:t>   (3×3 white patch, bottom-right corner)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Row 3 — Clean images after UNet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Row 4 — Poisoned images after UNet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2000" b="1">
                <a:solidFill>
                  <a:srgbClr val="C0392B"/>
                </a:solidFill>
              </a:defRPr>
            </a:pPr>
            <a:r>
              <a:t>Observation: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UNet converts all images into abstract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adversarial textures. These look scrambled to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humans but preserve the mathematical features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that ResNet needs for classification.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700" b="1">
                <a:solidFill>
                  <a:srgbClr val="27AE60"/>
                </a:solidFill>
              </a:defRPr>
            </a:pPr>
            <a:r>
              <a:t>The rigid 3×3 trigger is physically warped</a:t>
            </a:r>
          </a:p>
          <a:p>
            <a:pPr>
              <a:spcBef>
                <a:spcPts val="400"/>
              </a:spcBef>
              <a:defRPr sz="1700" b="1">
                <a:solidFill>
                  <a:srgbClr val="27AE60"/>
                </a:solidFill>
              </a:defRPr>
            </a:pPr>
            <a:r>
              <a:t>and destroyed in this process!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 Our Novel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55448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① Feature-Space Interpretability Pipeline  (Implemented)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The original paper does not provide visual analysis of the model's latent space. We built a full t-SNE pipeline that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extracts 512-dim features from ResNet-18's penultimate layer → reduces to 2D → provides direct visual proof that the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backdoor cluster is destroyed. This adds explainability — critical for trust in security-sensitive deployments.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② Pixel-Level Trigger Destruction Verification  (Implemented)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We reconstructed and visualized the exact pixel outputs of the UNet to confirm that the 3×3 BadNets trigger patch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is physically warped beyond recognition, providing concrete evidence beyond accuracy numbers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③ Stronger Empirical Defense Than Reported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Our reproduction achieved ASR = 0.84%, which is lower (better) than the paper's reported ~1.05–1.40%.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This independently validates that REFINE's defense mechanism is robust and reproducible.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 Future Work — Suggestions for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Suggestion 1: Lightweight UNet Replacement for Edge Deployment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current UNet model is ~69 MB — too heavy for IoT and embedded devices.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Replacing it with a MobileNet-based autoencoder or a compact 3-layer CNN could reduce size by 10×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while maintaining ASR &lt; 1.5%. This would make REFINE practical for real-time, resource-constrained systems.</a:t>
            </a:r>
          </a:p>
          <a:p>
            <a:pPr>
              <a:spcBef>
                <a:spcPts val="400"/>
              </a:spcBef>
              <a:defRPr sz="1600" b="1">
                <a:solidFill>
                  <a:srgbClr val="E67E22"/>
                </a:solidFill>
              </a:defRPr>
            </a:pPr>
            <a:r>
              <a:t>Target: model size &lt; 10 MB, BA &gt; 89%, ASR &lt; 1.5%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Suggestion 2: Evaluate Against Adaptive &amp; Dynamic Triggers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BadNets uses a static, fixed-position trigger. More advanced attacks like LIRA, ISSBA, and WaNet use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sample-specific, invisible, or dynamically positioned triggers that may resist the UNet's spatial filtering.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Testing REFINE against these would reveal its generalization limits and motivate improved defenses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such as randomized test-time transformations or ensemble-based scramblers.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DC3C7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31920"/>
            <a:ext cx="5760720" cy="20116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41148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Rohan Bhati  •  2023UAI1809</a:t>
            </a:r>
          </a:p>
          <a:p>
            <a:pPr algn="ctr">
              <a:spcBef>
                <a:spcPts val="400"/>
              </a:spcBef>
              <a:defRPr sz="1800" b="0">
                <a:solidFill>
                  <a:srgbClr val="BDC3C7"/>
                </a:solidFill>
              </a:defRPr>
            </a:pPr>
            <a:r>
              <a:t>MNIT Jaipur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ctr">
              <a:spcBef>
                <a:spcPts val="400"/>
              </a:spcBef>
              <a:defRPr sz="1500" b="0">
                <a:solidFill>
                  <a:srgbClr val="95A5B0"/>
                </a:solidFill>
              </a:defRPr>
            </a:pPr>
            <a:r>
              <a:t>ICLR 2025 — REFINE Paper</a:t>
            </a:r>
          </a:p>
          <a:p>
            <a:pPr algn="ctr">
              <a:spcBef>
                <a:spcPts val="400"/>
              </a:spcBef>
              <a:defRPr sz="1500" b="0">
                <a:solidFill>
                  <a:srgbClr val="95A5B0"/>
                </a:solidFill>
              </a:defRPr>
            </a:pPr>
            <a:r>
              <a:t>github.com/WhitolfChen/REFINE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1200</Words>
  <Application>Microsoft Office PowerPoint</Application>
  <PresentationFormat>Widescreen</PresentationFormat>
  <Paragraphs>194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 LAPTOP</cp:lastModifiedBy>
  <cp:revision>2</cp:revision>
  <dcterms:created xsi:type="dcterms:W3CDTF">2013-01-27T09:14:16Z</dcterms:created>
  <dcterms:modified xsi:type="dcterms:W3CDTF">2026-05-10T15:39:19Z</dcterms:modified>
  <cp:category/>
</cp:coreProperties>
</file>