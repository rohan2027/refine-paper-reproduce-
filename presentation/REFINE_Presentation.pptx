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REFINE: Defeating Backdoor Attacks</a:t>
            </a:r>
            <a:br/>
            <a:r>
              <a:t>via Adversarial Reprogramming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DC3C7"/>
                </a:solidFill>
              </a:defRPr>
            </a:pPr>
            <a:r>
              <a:t>Reproduction, Analysis &amp; Novel Contributions  •  CIFAR-10 / ResNet-18 / BadNets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840480"/>
            <a:ext cx="6675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C757D"/>
                </a:solidFill>
              </a:defRPr>
            </a:pPr>
            <a:r>
              <a:t>Presented by</a:t>
            </a:r>
          </a:p>
          <a:p>
            <a:pPr algn="ctr">
              <a:spcBef>
                <a:spcPts val="400"/>
              </a:spcBef>
              <a:defRPr sz="3000" b="1">
                <a:solidFill>
                  <a:srgbClr val="212529"/>
                </a:solidFill>
              </a:defRPr>
            </a:pPr>
            <a:r>
              <a:t>Rohan Bhati</a:t>
            </a:r>
          </a:p>
          <a:p>
            <a:pPr algn="ctr">
              <a:spcBef>
                <a:spcPts val="400"/>
              </a:spcBef>
              <a:defRPr sz="1800" b="0">
                <a:solidFill>
                  <a:srgbClr val="343A40"/>
                </a:solidFill>
              </a:defRPr>
            </a:pPr>
            <a:r>
              <a:t>Student ID: 2023UAI1809</a:t>
            </a:r>
          </a:p>
          <a:p>
            <a:pPr algn="ctr">
              <a:spcBef>
                <a:spcPts val="400"/>
              </a:spcBef>
              <a:defRPr sz="1800" b="0">
                <a:solidFill>
                  <a:srgbClr val="343A40"/>
                </a:solidFill>
              </a:defRPr>
            </a:pPr>
            <a:r>
              <a:t>Malaviya National Institute of Technology (MNIT), Jaipur</a:t>
            </a:r>
          </a:p>
          <a:p>
            <a:pPr algn="ctr">
              <a:spcBef>
                <a:spcPts val="400"/>
              </a:spcBef>
              <a:defRPr sz="1600" b="0">
                <a:solidFill>
                  <a:srgbClr val="6C757D"/>
                </a:solidFill>
              </a:defRPr>
            </a:pPr>
            <a:r>
              <a:t>Information Security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Paper: ICLR 2025   •   github.com/WhitolfChen/REFINE   •   openreview.net/pdf?id=4IYdCws9fc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1.  The Problem — What is a Backdoor Attack?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392B"/>
                </a:solidFill>
              </a:defRPr>
            </a:pPr>
            <a:r>
              <a:t>BadNets Attack Mechanism:</a:t>
            </a:r>
          </a:p>
          <a:p>
            <a:pPr>
              <a:spcBef>
                <a:spcPts val="400"/>
              </a:spcBef>
              <a:defRPr sz="1600" b="0">
                <a:solidFill>
                  <a:srgbClr val="212529"/>
                </a:solidFill>
              </a:defRPr>
            </a:pP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▸ Attacker poisons a small fraction of training data</a:t>
            </a: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▸ A 3×3 white-pixel trigger is stamped on the</a:t>
            </a:r>
          </a:p>
          <a:p>
            <a:pPr>
              <a:spcBef>
                <a:spcPts val="400"/>
              </a:spcBef>
              <a:defRPr sz="1600" b="0">
                <a:solidFill>
                  <a:srgbClr val="6C757D"/>
                </a:solidFill>
              </a:defRPr>
            </a:pPr>
            <a:r>
              <a:t>   bottom-right corner of selected images</a:t>
            </a: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▸ Labels of these images are changed to target</a:t>
            </a:r>
          </a:p>
          <a:p>
            <a:pPr>
              <a:spcBef>
                <a:spcPts val="400"/>
              </a:spcBef>
              <a:defRPr sz="1600" b="0">
                <a:solidFill>
                  <a:srgbClr val="6C757D"/>
                </a:solidFill>
              </a:defRPr>
            </a:pPr>
            <a:r>
              <a:t>   class (Class 0 — Airplane)</a:t>
            </a: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▸ Model learns a dangerous shortcut:</a:t>
            </a:r>
          </a:p>
          <a:p>
            <a:pPr>
              <a:spcBef>
                <a:spcPts val="400"/>
              </a:spcBef>
              <a:defRPr sz="1700" b="1">
                <a:solidFill>
                  <a:srgbClr val="E67E22"/>
                </a:solidFill>
              </a:defRPr>
            </a:pPr>
            <a:r>
              <a:t>   "See trigger → always predict Airplane"</a:t>
            </a:r>
          </a:p>
          <a:p>
            <a:pPr>
              <a:spcBef>
                <a:spcPts val="400"/>
              </a:spcBef>
              <a:defRPr sz="1600" b="0">
                <a:solidFill>
                  <a:srgbClr val="212529"/>
                </a:solidFill>
              </a:defRPr>
            </a:pPr>
          </a:p>
          <a:p>
            <a:pPr>
              <a:spcBef>
                <a:spcPts val="400"/>
              </a:spcBef>
              <a:defRPr sz="2000" b="1">
                <a:solidFill>
                  <a:srgbClr val="C0392B"/>
                </a:solidFill>
              </a:defRPr>
            </a:pPr>
            <a:r>
              <a:t>Consequence:</a:t>
            </a: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The infected model behaves perfectly normally on</a:t>
            </a: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clean data (91.73% accuracy), but misclassifies</a:t>
            </a:r>
          </a:p>
          <a:p>
            <a:pPr>
              <a:spcBef>
                <a:spcPts val="400"/>
              </a:spcBef>
              <a:defRPr sz="1700" b="1">
                <a:solidFill>
                  <a:srgbClr val="C0392B"/>
                </a:solidFill>
              </a:defRPr>
            </a:pPr>
            <a:r>
              <a:t>ANY image containing the trigger → 100% ASR.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392B"/>
                </a:solidFill>
              </a:defRPr>
            </a:pPr>
            <a:r>
              <a:t>Why Does This Matter?</a:t>
            </a:r>
          </a:p>
          <a:p>
            <a:pPr>
              <a:spcBef>
                <a:spcPts val="400"/>
              </a:spcBef>
              <a:defRPr sz="1600" b="0">
                <a:solidFill>
                  <a:srgbClr val="212529"/>
                </a:solidFill>
              </a:defRPr>
            </a:pPr>
          </a:p>
          <a:p>
            <a:pPr>
              <a:spcBef>
                <a:spcPts val="400"/>
              </a:spcBef>
              <a:defRPr sz="1800" b="1">
                <a:solidFill>
                  <a:srgbClr val="343A40"/>
                </a:solidFill>
              </a:defRPr>
            </a:pPr>
            <a:r>
              <a:t>Real-world AI systems are vulnerable:</a:t>
            </a:r>
          </a:p>
          <a:p>
            <a:pPr>
              <a:spcBef>
                <a:spcPts val="400"/>
              </a:spcBef>
              <a:defRPr sz="1600" b="0">
                <a:solidFill>
                  <a:srgbClr val="212529"/>
                </a:solidFill>
              </a:defRPr>
            </a:pP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🚗  Self-driving cars misclassifying traffic signs</a:t>
            </a: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🏥  Medical AI giving wrong diagnoses on demand</a:t>
            </a: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🔐  Security systems bypassed at attacker's will</a:t>
            </a:r>
          </a:p>
          <a:p>
            <a:pPr>
              <a:spcBef>
                <a:spcPts val="400"/>
              </a:spcBef>
              <a:defRPr sz="1600" b="0">
                <a:solidFill>
                  <a:srgbClr val="212529"/>
                </a:solidFill>
              </a:defRPr>
            </a:pP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The backdoor is completely invisible during</a:t>
            </a: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standard model evaluation — accuracy looks fine.</a:t>
            </a: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Only when the trigger appears does the attack</a:t>
            </a: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activate. Traditional testing cannot detect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2.  The Solution — How REFINE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38328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Step 1: Freeze Infected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43A40"/>
                </a:solidFill>
              </a:defRPr>
            </a:pPr>
            <a:r>
              <a:t>The backdoored ResNet-18 is</a:t>
            </a:r>
            <a:br/>
            <a:r>
              <a:t>locked permanently. Its weights</a:t>
            </a:r>
            <a:br/>
            <a:r>
              <a:t>are never modified or retrained.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59" y="1371600"/>
            <a:ext cx="3383280" cy="5029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39" y="14173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Step 2: Train a UNet Shield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39" y="201168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43A40"/>
                </a:solidFill>
              </a:defRPr>
            </a:pPr>
            <a:r>
              <a:t>A UNet is placed BEFORE the</a:t>
            </a:r>
            <a:br/>
            <a:r>
              <a:t>ResNet and trained only on clean</a:t>
            </a:r>
            <a:br/>
            <a:r>
              <a:t>images to output adversarial</a:t>
            </a:r>
            <a:br/>
            <a:r>
              <a:t>textures the ResNet understands.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371600"/>
            <a:ext cx="338328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4173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Step 3: Label Shuffling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01168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43A40"/>
                </a:solidFill>
              </a:defRPr>
            </a:pPr>
            <a:r>
              <a:t>A secret label permutation</a:t>
            </a:r>
            <a:br/>
            <a:r>
              <a:t>decouples the backdoor's target</a:t>
            </a:r>
            <a:br/>
            <a:r>
              <a:t>class mapping, rendering the</a:t>
            </a:r>
            <a:br/>
            <a:r>
              <a:t>trigger effect meaningless.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10698480" cy="36576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392B"/>
                </a:solidFill>
              </a:defRPr>
            </a:pPr>
            <a:r>
              <a:t>The "Blind Defense" — Why It Works Without Seeing Poisoned Data</a:t>
            </a:r>
          </a:p>
          <a:p>
            <a:pPr>
              <a:spcBef>
                <a:spcPts val="400"/>
              </a:spcBef>
              <a:defRPr sz="1600" b="0">
                <a:solidFill>
                  <a:srgbClr val="212529"/>
                </a:solidFill>
              </a:defRPr>
            </a:pP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The UNet has never seen a single poisoned image during its training. Yet it destroys the trigger because:</a:t>
            </a:r>
          </a:p>
          <a:p>
            <a:pPr>
              <a:spcBef>
                <a:spcPts val="400"/>
              </a:spcBef>
              <a:defRPr sz="1600" b="0">
                <a:solidFill>
                  <a:srgbClr val="343A40"/>
                </a:solidFill>
              </a:defRPr>
            </a:pPr>
            <a:r>
              <a:t>▸ UNet applies universal convolution filters across the entire 32×32 image — it does not selectively process regions</a:t>
            </a:r>
          </a:p>
          <a:p>
            <a:pPr>
              <a:spcBef>
                <a:spcPts val="400"/>
              </a:spcBef>
              <a:defRPr sz="1600" b="0">
                <a:solidFill>
                  <a:srgbClr val="343A40"/>
                </a:solidFill>
              </a:defRPr>
            </a:pPr>
            <a:r>
              <a:t>▸ The 3×3 trigger is just pixels — the UNet warps, blurs, and shreds its rigid structure into abstract noise</a:t>
            </a:r>
          </a:p>
          <a:p>
            <a:pPr>
              <a:spcBef>
                <a:spcPts val="400"/>
              </a:spcBef>
              <a:defRPr sz="1600" b="0">
                <a:solidFill>
                  <a:srgbClr val="343A40"/>
                </a:solidFill>
              </a:defRPr>
            </a:pPr>
            <a:r>
              <a:t>▸ The infected ResNet was trained to detect a perfect 3×3 white square — the shredded noise no longer matches</a:t>
            </a:r>
          </a:p>
          <a:p>
            <a:pPr>
              <a:spcBef>
                <a:spcPts val="400"/>
              </a:spcBef>
              <a:defRPr sz="1600" b="1">
                <a:solidFill>
                  <a:srgbClr val="27AE60"/>
                </a:solidFill>
              </a:defRPr>
            </a:pPr>
            <a:r>
              <a:t>▸ Result: backdoor fails completely, while clean classification accuracy is preserved at ~90.5%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3.  Architecture — Before vs After REFINE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2860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392B"/>
                </a:solidFill>
              </a:defRPr>
            </a:pPr>
            <a:r>
              <a:t>❌  Without Defense (Vulnerable Pipeline):</a:t>
            </a:r>
          </a:p>
          <a:p>
            <a:pPr>
              <a:spcBef>
                <a:spcPts val="400"/>
              </a:spcBef>
              <a:defRPr sz="1600" b="0">
                <a:solidFill>
                  <a:srgbClr val="212529"/>
                </a:solidFill>
              </a:defRPr>
            </a:pPr>
          </a:p>
          <a:p>
            <a:pPr>
              <a:spcBef>
                <a:spcPts val="400"/>
              </a:spcBef>
              <a:defRPr sz="1900" b="0">
                <a:solidFill>
                  <a:srgbClr val="343A40"/>
                </a:solidFill>
              </a:defRPr>
            </a:pPr>
            <a:r>
              <a:t>   Input Image (with 3×3 trigger)  ───►  Infected ResNet-18  ───►  Always predicts Class 0 (Airplane)</a:t>
            </a:r>
          </a:p>
          <a:p>
            <a:pPr>
              <a:spcBef>
                <a:spcPts val="400"/>
              </a:spcBef>
              <a:defRPr sz="1600" b="0">
                <a:solidFill>
                  <a:srgbClr val="212529"/>
                </a:solidFill>
              </a:defRPr>
            </a:pPr>
          </a:p>
          <a:p>
            <a:pPr>
              <a:spcBef>
                <a:spcPts val="400"/>
              </a:spcBef>
              <a:defRPr sz="1600" b="0">
                <a:solidFill>
                  <a:srgbClr val="6C757D"/>
                </a:solidFill>
              </a:defRPr>
            </a:pPr>
            <a:r>
              <a:t>   The trigger hijacks the model's decision. Attack Success Rate = 100%.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114800"/>
            <a:ext cx="10698480" cy="2468880"/>
          </a:xfrm>
          <a:prstGeom prst="rect">
            <a:avLst/>
          </a:prstGeom>
          <a:solidFill>
            <a:srgbClr val="EA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</a:defRPr>
            </a:pPr>
            <a:r>
              <a:t>✅  With REFINE Defense (Secured Pipeline):</a:t>
            </a:r>
          </a:p>
          <a:p>
            <a:pPr>
              <a:spcBef>
                <a:spcPts val="400"/>
              </a:spcBef>
              <a:defRPr sz="1600" b="0">
                <a:solidFill>
                  <a:srgbClr val="212529"/>
                </a:solidFill>
              </a:defRPr>
            </a:pPr>
          </a:p>
          <a:p>
            <a:pPr>
              <a:spcBef>
                <a:spcPts val="400"/>
              </a:spcBef>
              <a:defRPr sz="1900" b="0">
                <a:solidFill>
                  <a:srgbClr val="343A40"/>
                </a:solidFill>
              </a:defRPr>
            </a:pPr>
            <a:r>
              <a:t>   Input Image  ───►  UNet Filter  ───►  Adversarial Texture  ───►  Frozen ResNet-18  ───►  Correct Prediction</a:t>
            </a:r>
          </a:p>
          <a:p>
            <a:pPr>
              <a:spcBef>
                <a:spcPts val="400"/>
              </a:spcBef>
              <a:defRPr sz="1600" b="0">
                <a:solidFill>
                  <a:srgbClr val="212529"/>
                </a:solidFill>
              </a:defRPr>
            </a:pPr>
          </a:p>
          <a:p>
            <a:pPr>
              <a:spcBef>
                <a:spcPts val="400"/>
              </a:spcBef>
              <a:defRPr sz="1600" b="0">
                <a:solidFill>
                  <a:srgbClr val="6C757D"/>
                </a:solidFill>
              </a:defRPr>
            </a:pPr>
            <a:r>
              <a:t>   The UNet transforms all images into abstract feature maps. The trigger's spatial structure is destroyed.</a:t>
            </a:r>
          </a:p>
          <a:p>
            <a:pPr>
              <a:spcBef>
                <a:spcPts val="400"/>
              </a:spcBef>
              <a:defRPr sz="1600" b="0">
                <a:solidFill>
                  <a:srgbClr val="6C757D"/>
                </a:solidFill>
              </a:defRPr>
            </a:pPr>
            <a:r>
              <a:t>   Label shuffling further decouples the backdoor. ASR drops from 100% to just 0.84%.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4.  Experimental Results — Paper vs Our Reproduction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t>Before Defense (Backdoored Model)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466344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05840"/>
                <a:gridCol w="1005840"/>
                <a:gridCol w="100584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Paper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Ours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Diff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Benign Accuracy (BA)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91.18%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91.73%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+0.55%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Attack Success Rate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</a:defRPr>
            </a:pPr>
            <a:r>
              <a:t>After REFINE Defense (Epoch 150)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737360"/>
          <a:ext cx="512064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914400"/>
                <a:gridCol w="914400"/>
                <a:gridCol w="914400"/>
                <a:gridCol w="9144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Paper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Ours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Diff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Benign Accuracy (BA)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~90.50%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90.52%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+0.02%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✅ 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Attack Success Rate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~1.05%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0.84%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−0.21%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✅ Better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3291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80B9"/>
                </a:solidFill>
              </a:defRPr>
            </a:pPr>
            <a:r>
              <a:t>Training Progress — Last 10 Epochs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3749039"/>
          <a:ext cx="493776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Epoch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BA (%)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ASR (%)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89.96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142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89.62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2.50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143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89.85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2.35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144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89.57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1.17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90.48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1.12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146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89.91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0.92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90.11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1.50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148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90.08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1.64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149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89.59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2.10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150 (Final)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90.52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12529"/>
                          </a:solidFill>
                        </a:defRPr>
                      </a:pPr>
                      <a:r>
                        <a:t>0.84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0" y="3291840"/>
            <a:ext cx="5303520" cy="3200400"/>
          </a:xfrm>
          <a:prstGeom prst="rect">
            <a:avLst/>
          </a:prstGeom>
          <a:solidFill>
            <a:srgbClr val="EA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3383280"/>
            <a:ext cx="4754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</a:defRPr>
            </a:pPr>
            <a:r>
              <a:t>Key Takeaways</a:t>
            </a:r>
          </a:p>
          <a:p>
            <a:pPr>
              <a:spcBef>
                <a:spcPts val="400"/>
              </a:spcBef>
              <a:defRPr sz="1600" b="0">
                <a:solidFill>
                  <a:srgbClr val="212529"/>
                </a:solidFill>
              </a:defRPr>
            </a:pPr>
          </a:p>
          <a:p>
            <a:pPr>
              <a:spcBef>
                <a:spcPts val="400"/>
              </a:spcBef>
              <a:defRPr sz="2000" b="1">
                <a:solidFill>
                  <a:srgbClr val="343A40"/>
                </a:solidFill>
              </a:defRPr>
            </a:pPr>
            <a:r>
              <a:t>✅ Successfully Reproduced</a:t>
            </a:r>
          </a:p>
          <a:p>
            <a:pPr>
              <a:spcBef>
                <a:spcPts val="400"/>
              </a:spcBef>
              <a:defRPr sz="1600" b="0">
                <a:solidFill>
                  <a:srgbClr val="212529"/>
                </a:solidFill>
              </a:defRPr>
            </a:pPr>
          </a:p>
          <a:p>
            <a:pPr>
              <a:spcBef>
                <a:spcPts val="400"/>
              </a:spcBef>
              <a:defRPr sz="1600" b="0">
                <a:solidFill>
                  <a:srgbClr val="343A40"/>
                </a:solidFill>
              </a:defRPr>
            </a:pPr>
            <a:r>
              <a:t>▸ BA after defense matches paper within</a:t>
            </a:r>
          </a:p>
          <a:p>
            <a:pPr>
              <a:spcBef>
                <a:spcPts val="400"/>
              </a:spcBef>
              <a:defRPr sz="1600" b="0">
                <a:solidFill>
                  <a:srgbClr val="343A40"/>
                </a:solidFill>
              </a:defRPr>
            </a:pPr>
            <a:r>
              <a:t>   0.02% — essentially identical</a:t>
            </a:r>
          </a:p>
          <a:p>
            <a:pPr>
              <a:spcBef>
                <a:spcPts val="400"/>
              </a:spcBef>
              <a:defRPr sz="1600" b="0">
                <a:solidFill>
                  <a:srgbClr val="212529"/>
                </a:solidFill>
              </a:defRPr>
            </a:pPr>
          </a:p>
          <a:p>
            <a:pPr>
              <a:spcBef>
                <a:spcPts val="400"/>
              </a:spcBef>
              <a:defRPr sz="1600" b="0">
                <a:solidFill>
                  <a:srgbClr val="343A40"/>
                </a:solidFill>
              </a:defRPr>
            </a:pPr>
            <a:r>
              <a:t>▸ Our ASR of 0.84% is better than the</a:t>
            </a:r>
          </a:p>
          <a:p>
            <a:pPr>
              <a:spcBef>
                <a:spcPts val="400"/>
              </a:spcBef>
              <a:defRPr sz="1600" b="0">
                <a:solidFill>
                  <a:srgbClr val="343A40"/>
                </a:solidFill>
              </a:defRPr>
            </a:pPr>
            <a:r>
              <a:t>   paper's reported ~1.05–1.40%</a:t>
            </a:r>
          </a:p>
          <a:p>
            <a:pPr>
              <a:spcBef>
                <a:spcPts val="400"/>
              </a:spcBef>
              <a:defRPr sz="1600" b="0">
                <a:solidFill>
                  <a:srgbClr val="212529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27AE60"/>
                </a:solidFill>
              </a:defRPr>
            </a:pPr>
            <a:r>
              <a:t>▸ Defense reduced ASR: 100% → 0.84%</a:t>
            </a:r>
          </a:p>
          <a:p>
            <a:pPr>
              <a:spcBef>
                <a:spcPts val="400"/>
              </a:spcBef>
              <a:defRPr sz="1600" b="0">
                <a:solidFill>
                  <a:srgbClr val="343A40"/>
                </a:solidFill>
              </a:defRPr>
            </a:pPr>
            <a:r>
              <a:t>   while losing only ~1.2% benign accuracy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5.  Visual Evidence — t-SNE Feature Space Analysis</a:t>
            </a:r>
          </a:p>
        </p:txBody>
      </p:sp>
      <p:pic>
        <p:nvPicPr>
          <p:cNvPr id="4" name="Picture 3" descr="tsne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49924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8463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C0392B"/>
                </a:solidFill>
              </a:defRPr>
            </a:pPr>
            <a:r>
              <a:t>Before REFINE (Left):</a:t>
            </a:r>
          </a:p>
          <a:p>
            <a:pPr>
              <a:spcBef>
                <a:spcPts val="400"/>
              </a:spcBef>
              <a:defRPr sz="1600" b="0">
                <a:solidFill>
                  <a:srgbClr val="343A40"/>
                </a:solidFill>
              </a:defRPr>
            </a:pPr>
            <a:r>
              <a:t>All 500 poisoned samples (★) collapse into</a:t>
            </a:r>
          </a:p>
          <a:p>
            <a:pPr>
              <a:spcBef>
                <a:spcPts val="400"/>
              </a:spcBef>
              <a:defRPr sz="1600" b="0">
                <a:solidFill>
                  <a:srgbClr val="343A40"/>
                </a:solidFill>
              </a:defRPr>
            </a:pPr>
            <a:r>
              <a:t>one super-dense cluster. The trigger acts as</a:t>
            </a:r>
          </a:p>
          <a:p>
            <a:pPr>
              <a:spcBef>
                <a:spcPts val="400"/>
              </a:spcBef>
              <a:defRPr sz="1600" b="0">
                <a:solidFill>
                  <a:srgbClr val="343A40"/>
                </a:solidFill>
              </a:defRPr>
            </a:pPr>
            <a:r>
              <a:t>a magnet — overriding all natural features.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8463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7AE60"/>
                </a:solidFill>
              </a:defRPr>
            </a:pPr>
            <a:r>
              <a:t>After REFINE (Right):</a:t>
            </a:r>
          </a:p>
          <a:p>
            <a:pPr>
              <a:spcBef>
                <a:spcPts val="400"/>
              </a:spcBef>
              <a:defRPr sz="1600" b="0">
                <a:solidFill>
                  <a:srgbClr val="343A40"/>
                </a:solidFill>
              </a:defRPr>
            </a:pPr>
            <a:r>
              <a:t>The dense cluster shatters! Poisoned samples</a:t>
            </a:r>
          </a:p>
          <a:p>
            <a:pPr>
              <a:spcBef>
                <a:spcPts val="400"/>
              </a:spcBef>
              <a:defRPr sz="1600" b="0">
                <a:solidFill>
                  <a:srgbClr val="343A40"/>
                </a:solidFill>
              </a:defRPr>
            </a:pPr>
            <a:r>
              <a:t>scatter into their correct class clusters —</a:t>
            </a:r>
          </a:p>
          <a:p>
            <a:pPr>
              <a:spcBef>
                <a:spcPts val="400"/>
              </a:spcBef>
              <a:defRPr sz="1600" b="0">
                <a:solidFill>
                  <a:srgbClr val="343A40"/>
                </a:solidFill>
              </a:defRPr>
            </a:pPr>
            <a:r>
              <a:t>dogs with dogs, cars with cars. Trigger destroyed.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6.  UNet Transformation — Pixel-Level Verification</a:t>
            </a:r>
          </a:p>
        </p:txBody>
      </p:sp>
      <p:pic>
        <p:nvPicPr>
          <p:cNvPr id="4" name="Picture 3" descr="image_transform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6217920" cy="64312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128016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392B"/>
                </a:solidFill>
              </a:defRPr>
            </a:pPr>
            <a:r>
              <a:t>What This Image Shows:</a:t>
            </a:r>
          </a:p>
          <a:p>
            <a:pPr>
              <a:spcBef>
                <a:spcPts val="400"/>
              </a:spcBef>
              <a:defRPr sz="1600" b="0">
                <a:solidFill>
                  <a:srgbClr val="212529"/>
                </a:solidFill>
              </a:defRPr>
            </a:pP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Row 1 — Clean original CIFAR-10 images</a:t>
            </a: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Row 2 — Same images + BadNets trigger</a:t>
            </a:r>
          </a:p>
          <a:p>
            <a:pPr>
              <a:spcBef>
                <a:spcPts val="400"/>
              </a:spcBef>
              <a:defRPr sz="1500" b="0">
                <a:solidFill>
                  <a:srgbClr val="6C757D"/>
                </a:solidFill>
              </a:defRPr>
            </a:pPr>
            <a:r>
              <a:t>   (3×3 white patch, bottom-right corner)</a:t>
            </a: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Row 3 — Clean images after UNet</a:t>
            </a: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Row 4 — Poisoned images after UNet</a:t>
            </a:r>
          </a:p>
          <a:p>
            <a:pPr>
              <a:spcBef>
                <a:spcPts val="400"/>
              </a:spcBef>
              <a:defRPr sz="1600" b="0">
                <a:solidFill>
                  <a:srgbClr val="212529"/>
                </a:solidFill>
              </a:defRPr>
            </a:pPr>
          </a:p>
          <a:p>
            <a:pPr>
              <a:spcBef>
                <a:spcPts val="400"/>
              </a:spcBef>
              <a:defRPr sz="2000" b="1">
                <a:solidFill>
                  <a:srgbClr val="C0392B"/>
                </a:solidFill>
              </a:defRPr>
            </a:pPr>
            <a:r>
              <a:t>Observation:</a:t>
            </a: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The UNet converts all images into abstract</a:t>
            </a: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adversarial textures. These look scrambled to</a:t>
            </a: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humans but preserve the mathematical features</a:t>
            </a: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that ResNet needs for classification.</a:t>
            </a:r>
          </a:p>
          <a:p>
            <a:pPr>
              <a:spcBef>
                <a:spcPts val="400"/>
              </a:spcBef>
              <a:defRPr sz="1600" b="0">
                <a:solidFill>
                  <a:srgbClr val="212529"/>
                </a:solidFill>
              </a:defRPr>
            </a:pPr>
          </a:p>
          <a:p>
            <a:pPr>
              <a:spcBef>
                <a:spcPts val="400"/>
              </a:spcBef>
              <a:defRPr sz="1700" b="1">
                <a:solidFill>
                  <a:srgbClr val="27AE60"/>
                </a:solidFill>
              </a:defRPr>
            </a:pPr>
            <a:r>
              <a:t>The rigid 3×3 trigger is physically warped</a:t>
            </a:r>
          </a:p>
          <a:p>
            <a:pPr>
              <a:spcBef>
                <a:spcPts val="400"/>
              </a:spcBef>
              <a:defRPr sz="1700" b="1">
                <a:solidFill>
                  <a:srgbClr val="27AE60"/>
                </a:solidFill>
              </a:defRPr>
            </a:pPr>
            <a:r>
              <a:t>and destroyed in this process!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7.  Our Novel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554480"/>
          </a:xfrm>
          <a:prstGeom prst="rect">
            <a:avLst/>
          </a:prstGeom>
          <a:solidFill>
            <a:srgbClr val="EA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</a:defRPr>
            </a:pPr>
            <a:r>
              <a:t>① Feature-Space Interpretability Pipeline  (Implemented)</a:t>
            </a:r>
          </a:p>
          <a:p>
            <a:pPr>
              <a:spcBef>
                <a:spcPts val="400"/>
              </a:spcBef>
              <a:defRPr sz="1600" b="0">
                <a:solidFill>
                  <a:srgbClr val="343A40"/>
                </a:solidFill>
              </a:defRPr>
            </a:pPr>
            <a:r>
              <a:t>The original paper does not provide visual analysis of the model's latent space. We built a full t-SNE pipeline that</a:t>
            </a:r>
          </a:p>
          <a:p>
            <a:pPr>
              <a:spcBef>
                <a:spcPts val="400"/>
              </a:spcBef>
              <a:defRPr sz="1600" b="0">
                <a:solidFill>
                  <a:srgbClr val="343A40"/>
                </a:solidFill>
              </a:defRPr>
            </a:pPr>
            <a:r>
              <a:t>extracts 512-dim features from ResNet-18's penultimate layer → reduces to 2D → provides direct visual proof that the</a:t>
            </a:r>
          </a:p>
          <a:p>
            <a:pPr>
              <a:spcBef>
                <a:spcPts val="400"/>
              </a:spcBef>
              <a:defRPr sz="1600" b="0">
                <a:solidFill>
                  <a:srgbClr val="343A40"/>
                </a:solidFill>
              </a:defRPr>
            </a:pPr>
            <a:r>
              <a:t>backdoor cluster is destroyed. This adds explainability — critical for trust in security-sensitive deployments.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00400"/>
            <a:ext cx="10698480" cy="128016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t>② Pixel-Level Trigger Destruction Verification  (Implemented)</a:t>
            </a:r>
          </a:p>
          <a:p>
            <a:pPr>
              <a:spcBef>
                <a:spcPts val="400"/>
              </a:spcBef>
              <a:defRPr sz="1600" b="0">
                <a:solidFill>
                  <a:srgbClr val="343A40"/>
                </a:solidFill>
              </a:defRPr>
            </a:pPr>
            <a:r>
              <a:t>We reconstructed and visualized the exact pixel outputs of the UNet to confirm that the 3×3 BadNets trigger patch</a:t>
            </a:r>
          </a:p>
          <a:p>
            <a:pPr>
              <a:spcBef>
                <a:spcPts val="400"/>
              </a:spcBef>
              <a:defRPr sz="1600" b="0">
                <a:solidFill>
                  <a:srgbClr val="343A40"/>
                </a:solidFill>
              </a:defRPr>
            </a:pPr>
            <a:r>
              <a:t>is physically warped beyond recognition, providing concrete evidence beyond accuracy numbers alone.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754880"/>
            <a:ext cx="10698480" cy="1280160"/>
          </a:xfrm>
          <a:prstGeom prst="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46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80B9"/>
                </a:solidFill>
              </a:defRPr>
            </a:pPr>
            <a:r>
              <a:t>③ Stronger Empirical Defense Than Reported</a:t>
            </a:r>
          </a:p>
          <a:p>
            <a:pPr>
              <a:spcBef>
                <a:spcPts val="400"/>
              </a:spcBef>
              <a:defRPr sz="1600" b="0">
                <a:solidFill>
                  <a:srgbClr val="343A40"/>
                </a:solidFill>
              </a:defRPr>
            </a:pPr>
            <a:r>
              <a:t>Our reproduction achieved ASR = 0.84%, which is lower (better) than the paper's reported ~1.05–1.40%.</a:t>
            </a:r>
          </a:p>
          <a:p>
            <a:pPr>
              <a:spcBef>
                <a:spcPts val="400"/>
              </a:spcBef>
              <a:defRPr sz="1600" b="0">
                <a:solidFill>
                  <a:srgbClr val="343A40"/>
                </a:solidFill>
              </a:defRPr>
            </a:pPr>
            <a:r>
              <a:t>This independently validates that REFINE's defense mechanism is robust and reproducible.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8.  Future Work — Suggestions for Extension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22860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t>Suggestion 1: Lightweight UNet Replacement for Edge Deployment</a:t>
            </a:r>
          </a:p>
          <a:p>
            <a:pPr>
              <a:spcBef>
                <a:spcPts val="400"/>
              </a:spcBef>
              <a:defRPr sz="1600" b="0">
                <a:solidFill>
                  <a:srgbClr val="212529"/>
                </a:solidFill>
              </a:defRPr>
            </a:pP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The current UNet model is ~69 MB — too heavy for IoT and embedded devices.</a:t>
            </a: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Replacing it with a MobileNet-based autoencoder or a compact 3-layer CNN could reduce size by 10×</a:t>
            </a: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while maintaining ASR &lt; 1.5%. This would make REFINE practical for real-time, resource-constrained systems.</a:t>
            </a:r>
          </a:p>
          <a:p>
            <a:pPr>
              <a:spcBef>
                <a:spcPts val="400"/>
              </a:spcBef>
              <a:defRPr sz="1600" b="1">
                <a:solidFill>
                  <a:srgbClr val="E67E22"/>
                </a:solidFill>
              </a:defRPr>
            </a:pPr>
            <a:r>
              <a:t>Target: model size &lt; 10 MB, BA &gt; 89%, ASR &lt; 1.5%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023360"/>
            <a:ext cx="10698480" cy="2286000"/>
          </a:xfrm>
          <a:prstGeom prst="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10058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80B9"/>
                </a:solidFill>
              </a:defRPr>
            </a:pPr>
            <a:r>
              <a:t>Suggestion 2: Evaluate Against Adaptive &amp; Dynamic Triggers</a:t>
            </a:r>
          </a:p>
          <a:p>
            <a:pPr>
              <a:spcBef>
                <a:spcPts val="400"/>
              </a:spcBef>
              <a:defRPr sz="1600" b="0">
                <a:solidFill>
                  <a:srgbClr val="212529"/>
                </a:solidFill>
              </a:defRPr>
            </a:pP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BadNets uses a static, fixed-position trigger. More advanced attacks like LIRA, ISSBA, and WaNet use</a:t>
            </a: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sample-specific, invisible, or dynamically positioned triggers that may resist the UNet's spatial filtering.</a:t>
            </a: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Testing REFINE against these would reveal its generalization limits and motivate improved defenses</a:t>
            </a:r>
          </a:p>
          <a:p>
            <a:pPr>
              <a:spcBef>
                <a:spcPts val="400"/>
              </a:spcBef>
              <a:defRPr sz="1700" b="0">
                <a:solidFill>
                  <a:srgbClr val="343A40"/>
                </a:solidFill>
              </a:defRPr>
            </a:pPr>
            <a:r>
              <a:t>such as randomized test-time transformations or ensemble-based scramblers.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BDC3C7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931920"/>
            <a:ext cx="5760720" cy="20116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0" y="411480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Rohan Bhati  •  2023UAI1809</a:t>
            </a:r>
          </a:p>
          <a:p>
            <a:pPr algn="ctr">
              <a:spcBef>
                <a:spcPts val="400"/>
              </a:spcBef>
              <a:defRPr sz="1800" b="0">
                <a:solidFill>
                  <a:srgbClr val="BDC3C7"/>
                </a:solidFill>
              </a:defRPr>
            </a:pPr>
            <a:r>
              <a:t>MNIT Jaipur</a:t>
            </a:r>
          </a:p>
          <a:p>
            <a:pPr>
              <a:spcBef>
                <a:spcPts val="400"/>
              </a:spcBef>
              <a:defRPr sz="800" b="0">
                <a:solidFill>
                  <a:srgbClr val="FFFFFF"/>
                </a:solidFill>
              </a:defRPr>
            </a:pPr>
          </a:p>
          <a:p>
            <a:pPr algn="ctr">
              <a:spcBef>
                <a:spcPts val="400"/>
              </a:spcBef>
              <a:defRPr sz="1500" b="0">
                <a:solidFill>
                  <a:srgbClr val="95A5B0"/>
                </a:solidFill>
              </a:defRPr>
            </a:pPr>
            <a:r>
              <a:t>ICLR 2025 — REFINE Paper</a:t>
            </a:r>
          </a:p>
          <a:p>
            <a:pPr algn="ctr">
              <a:spcBef>
                <a:spcPts val="400"/>
              </a:spcBef>
              <a:defRPr sz="1500" b="0">
                <a:solidFill>
                  <a:srgbClr val="95A5B0"/>
                </a:solidFill>
              </a:defRPr>
            </a:pPr>
            <a:r>
              <a:t>github.com/WhitolfChen/REFINE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